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7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2" Type="http://schemas.openxmlformats.org/officeDocument/2006/relationships/slide" Target="slides/slide7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id="{7A4AA4C9-7B18-4C0B-88EA-FCE93318F9D1}"/>
              </a:ext>
            </a:extLst>
          </p:cNvPr>
          <p:cNvSpPr txBox="1"/>
          <p:nvPr/>
        </p:nvSpPr>
        <p:spPr>
          <a:xfrm>
            <a:off x="3278200" y="6288668"/>
            <a:ext cx="563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0" dirty="0">
                <a:solidFill>
                  <a:srgbClr val="989596"/>
                </a:solidFill>
                <a:latin typeface="Arial"/>
              </a:rPr>
              <a:t>Foam-Agent: Towards Automated Intelligent CFD Workflows</a:t>
            </a:r>
            <a:endParaRPr lang="en-CN" sz="1600" b="0" dirty="0">
              <a:solidFill>
                <a:srgbClr val="989596"/>
              </a:solidFill>
              <a:latin typeface="Arial"/>
            </a:endParaRPr>
          </a:p>
        </p:txBody>
      </p:sp>
    </p:spTree>
    <p:extLst>
      <p:ext uri="{BB962C8B-B14F-4D97-AF65-F5344CB8AC3E}">
        <p14:creationId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id="{9ADE48DA-BA5C-5EDB-7D06-0C4908B1587A}"/>
              </a:ext>
            </a:extLst>
          </p:cNvPr>
          <p:cNvSpPr txBox="1"/>
          <p:nvPr/>
        </p:nvSpPr>
        <p:spPr>
          <a:xfrm>
            <a:off x="3151200" y="6288668"/>
            <a:ext cx="5889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0" dirty="0">
                <a:solidFill>
                  <a:srgbClr val="989596"/>
                </a:solidFill>
                <a:latin typeface="Arial"/>
              </a:rPr>
              <a:t>ReAct: Synergizing Reasoning and Acting in Language Models</a:t>
            </a:r>
            <a:endParaRPr lang="en-CN" sz="1600" b="0" dirty="0">
              <a:solidFill>
                <a:srgbClr val="989596"/>
              </a:solidFill>
              <a:latin typeface="Arial"/>
            </a:endParaRPr>
          </a:p>
        </p:txBody>
      </p:sp>
    </p:spTree>
    <p:extLst>
      <p:ext uri="{BB962C8B-B14F-4D97-AF65-F5344CB8AC3E}">
        <p14:creationId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  AI-generated content may be incorrect.">
            <a:extLst>
              <a:ext uri="{FF2B5EF4-FFF2-40B4-BE49-F238E27FC236}">
                <a16:creationId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id="{FC2B7173-6942-0184-E289-DC61773408C5}"/>
              </a:ext>
            </a:extLst>
          </p:cNvPr>
          <p:cNvSpPr txBox="1"/>
          <p:nvPr/>
        </p:nvSpPr>
        <p:spPr>
          <a:xfrm>
            <a:off x="3151200" y="6288668"/>
            <a:ext cx="5889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0" dirty="0">
                <a:solidFill>
                  <a:srgbClr val="989596"/>
                </a:solidFill>
                <a:latin typeface="Arial"/>
              </a:rPr>
              <a:t>ReAct: Synergizing Reasoning and Acting in Language Models</a:t>
            </a:r>
            <a:endParaRPr lang="en-CN" sz="1600" b="0" dirty="0">
              <a:solidFill>
                <a:srgbClr val="989596"/>
              </a:solidFill>
              <a:latin typeface="Arial"/>
            </a:endParaRPr>
          </a:p>
        </p:txBody>
      </p:sp>
    </p:spTree>
    <p:extLst>
      <p:ext uri="{BB962C8B-B14F-4D97-AF65-F5344CB8AC3E}">
        <p14:creationId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id="{73AA79F2-A0EA-6DCE-2F51-977A39FD349C}"/>
              </a:ext>
            </a:extLst>
          </p:cNvPr>
          <p:cNvSpPr txBox="1"/>
          <p:nvPr/>
        </p:nvSpPr>
        <p:spPr>
          <a:xfrm>
            <a:off x="4205300" y="6288668"/>
            <a:ext cx="3781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0" dirty="0">
                <a:solidFill>
                  <a:srgbClr val="989596"/>
                </a:solidFill>
                <a:latin typeface="Arial"/>
              </a:rPr>
              <a:t>Why Do Multi-Agent LLM Systems Fail?</a:t>
            </a:r>
            <a:endParaRPr lang="en-CN" sz="1600" b="0" dirty="0">
              <a:solidFill>
                <a:srgbClr val="989596"/>
              </a:solidFill>
              <a:latin typeface="Arial"/>
            </a:endParaRPr>
          </a:p>
        </p:txBody>
      </p:sp>
    </p:spTree>
    <p:extLst>
      <p:ext uri="{BB962C8B-B14F-4D97-AF65-F5344CB8AC3E}">
        <p14:creationId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id="{A8B19118-5E79-85DE-B9DB-ED733E68C632}"/>
              </a:ext>
            </a:extLst>
          </p:cNvPr>
          <p:cNvSpPr txBox="1"/>
          <p:nvPr/>
        </p:nvSpPr>
        <p:spPr>
          <a:xfrm>
            <a:off x="2433650" y="6288668"/>
            <a:ext cx="73247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0" dirty="0">
                <a:solidFill>
                  <a:srgbClr val="989596"/>
                </a:solidFill>
                <a:latin typeface="Arial"/>
              </a:rPr>
              <a:t>MultiAgentBench : Evaluating the Collaboration and Competition of LLM agents</a:t>
            </a:r>
            <a:endParaRPr lang="en-CN" sz="1600" b="0" dirty="0">
              <a:solidFill>
                <a:srgbClr val="989596"/>
              </a:solidFill>
              <a:latin typeface="Arial"/>
            </a:endParaRPr>
          </a:p>
        </p:txBody>
      </p:sp>
    </p:spTree>
    <p:extLst>
      <p:ext uri="{BB962C8B-B14F-4D97-AF65-F5344CB8AC3E}">
        <p14:creationId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</a:t>
            </a:r>
            <a:endParaRPr lang="en-C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AutoNum type="arabicPeriod"/>
            </a:pPr>
            <a:r>
              <a:rPr lang="en-US" dirty="0"/>
              <a:t>Foam-Agent: Towards Automated Intelligent CFD Workflows</a:t>
            </a:r>
          </a:p>
          <a:p>
            <a:pPr lvl="0">
              <a:buAutoNum type="arabicPeriod"/>
            </a:pPr>
            <a:r>
              <a:rPr lang="en-US" dirty="0"/>
              <a:t>ReAct: Synergizing Reasoning and Acting in Language Models</a:t>
            </a:r>
          </a:p>
          <a:p>
            <a:pPr lvl="0">
              <a:buAutoNum type="arabicPeriod"/>
            </a:pPr>
            <a:r>
              <a:rPr lang="en-US" dirty="0"/>
              <a:t>Why Do Multi-Agent LLM Systems Fail?</a:t>
            </a:r>
          </a:p>
          <a:p>
            <a:pPr lvl="0">
              <a:buAutoNum type="arabicPeriod"/>
            </a:pPr>
            <a:r>
              <a:rPr lang="en-US" dirty="0"/>
              <a:t>MultiAgentBench : Evaluating the Collaboration and Competition of LLM 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  <vt:lpstr>Reference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