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7.xml" ContentType="application/vnd.openxmlformats-officedocument.presentationml.slide+xml"/>
</ns0: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48" ns1:id="rId1"/>
  </ns0:sldMasterIdLst>
  <ns0:sldIdLst>
    <ns0:sldId id="256" ns1:id="rId2"/>
    <ns0:sldId id="257" ns1:id="rId3"/>
    <ns0:sldId id="261" ns1:id="rId4"/>
    <ns0:sldId id="262" ns1:id="rId5"/>
    <ns0:sldId id="258" ns1:id="rId6"/>
    <ns0:sldId id="259" ns1:id="rId7"/>
    <ns0:sldId id="263" ns1:id="rId12"/>
  </ns0:sldIdLst>
  <ns0:sldSz cx="12192000" cy="6858000"/>
  <ns0:notesSz cx="6858000" cy="9144000"/>
  <ns0:defaultTextStyle>
    <ns2:defPPr>
      <ns2:defRPr lang="en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89AD2FD9-FC9F-FB2C-E962-D9FED2A966CD}"/>
              </ns1:ext>
            </ns1:extLst>
          </ns0:cNvPr>
          <ns0:cNvSpPr>
            <ns1:spLocks noGrp="1"/>
          </ns0:cNvSpPr>
          <ns0:nvPr>
            <ns0:ph type="ctrTitle"/>
          </ns0:nvPr>
        </ns0:nvSpPr>
        <ns0:spPr/>
        <ns0:txBody>
          <ns1:bodyPr/>
          <ns1:lstStyle/>
          <ns1:p>
            <ns1:r>
              <ns1:rPr lang="en-US" dirty="0"/>
              <ns1:t>Awesome-Agent-Papers</ns1:t>
            </ns1:r>
            <ns1:endParaRPr lang="en-CN" dirty="0"/>
          </ns1:p>
        </ns0:txBody>
      </ns0:sp>
    </ns0:spTree>
    <ns0:extLst>
      <ns0:ext uri="{BB962C8B-B14F-4D97-AF65-F5344CB8AC3E}">
        <ns3:creationId val="3104075738"/>
      </ns0:ext>
    </ns0:extLst>
  </ns0:cSld>
  <ns0:clrMapOvr>
    <ns1:masterClrMapping/>
  </ns0:clrMapOvr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7D717158-30A2-0405-C6CB-A22AC5B0FA2F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/>
              <ns1:t>Foam - Agent</ns1:t>
            </ns1:r>
            <ns1:endParaRPr lang="en-CN" dirty="0"/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F8344191-8C2C-D8E7-1258-7EA17052630C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r>
              <ns1:rPr lang="en-US" dirty="0"/>
              <ns1:t>The paper presents Foam - Agent, a multi - agent framework automating CFD workflows from natural language. It features unique retrieval, file - generation and error - correction systems, lowering expertise barriers.</ns1:t>
            </ns1:r>
            <ns1:endParaRPr lang="en-CN" dirty="0"/>
          </ns1:p>
        </ns0:txBody>
      </ns0:sp>
      <ns0:sp>
        <ns0:nvSpPr>
          <ns0:cNvPr id="6" name="文本框 5">
            <ns1:extLst>
              <ns1:ext uri="{FF2B5EF4-FFF2-40B4-BE49-F238E27FC236}">
                <ns2:creationId id="{7A4AA4C9-7B18-4C0B-88EA-FCE93318F9D1}"/>
              </ns1:ext>
            </ns1:extLst>
          </ns0:cNvPr>
          <ns0:cNvSpPr txBox="1"/>
          <ns0:nvPr/>
        </ns0:nvSpPr>
        <ns0:spPr>
          <ns1:xfrm>
            <ns1:off x="609600" y="6126480"/>
            <ns1:ext cx="10972800" cy="4572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lang="en-US" altLang="zh-CN" b="0" i="0" dirty="0" sz="1600">
                <ns1:solidFill>
                  <ns1:srgbClr val="989596"/>
                </ns1:solidFill>
                <ns1:effectLst/>
                <ns1:latin typeface="Arial"/>
              </ns1:rPr>
              <ns1:t>Foam-Agent: Towards Automated Intelligent CFD Workflows</ns1:t>
            </ns1:r>
          </ns1:p>
        </ns0:txBody>
      </ns0:sp>
    </ns0:spTree>
    <ns0:extLst>
      <ns0:ext uri="{BB962C8B-B14F-4D97-AF65-F5344CB8AC3E}">
        <ns3:creationId val="3733614345"/>
      </ns0:ext>
    </ns0:extLst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86F2AE8B-A537-133C-1921-52C05441FAFB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 err="1"/>
              <ns1:t>ReAct</ns1:t>
            </ns1:r>
            <ns1:endParaRPr lang="en-CN" dirty="0"/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70694C14-7040-4644-FC3F-E34279CAD82E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r>
              <ns1:rPr lang="en-US" dirty="0" err="1"/>
              <ns1:t>ReAct</ns1:t>
            </ns1:r>
            <ns1:r>
              <ns1:rPr lang="en-US" dirty="0"/>
              <ns1:t>, a method for prompting large language models in a way that enables them to both reason about problems as well as operate by producing predefined actions which have external effects (e.g. interact with a </ns1:t>
            </ns1:r>
            <ns1:r>
              <ns1:rPr lang="en-US" dirty="0" err="1"/>
              <ns1:t>wikipedia</ns1:t>
            </ns1:r>
            <ns1:r>
              <ns1:rPr lang="en-US" dirty="0"/>
              <ns1:t> API, or take some action in some simulated text-based environment). </ns1:t>
            </ns1:r>
            <ns1:endParaRPr lang="en-CN" dirty="0"/>
          </ns1:p>
        </ns0:txBody>
      </ns0:sp>
      <ns0:sp>
        <ns0:nvSpPr>
          <ns0:cNvPr id="5" name="TextBox 4">
            <ns1:extLst>
              <ns1:ext uri="{FF2B5EF4-FFF2-40B4-BE49-F238E27FC236}">
                <ns2:creationId id="{9ADE48DA-BA5C-5EDB-7D06-0C4908B1587A}"/>
              </ns1:ext>
            </ns1:extLst>
          </ns0:cNvPr>
          <ns0:cNvSpPr txBox="1"/>
          <ns0:nvPr/>
        </ns0:nvSpPr>
        <ns0:spPr>
          <ns1:xfrm>
            <ns1:off x="609600" y="6126480"/>
            <ns1:ext cx="10972800" cy="4572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lang="en-US" dirty="0" err="1" sz="1600" b="0">
                <ns1:solidFill>
                  <ns1:srgbClr val="989596"/>
                </ns1:solidFill>
                <ns1:latin typeface="Arial"/>
              </ns1:rPr>
              <ns1:t>ReAct</ns1:t>
            </ns1:r>
            <ns1:r>
              <ns1:rPr lang="en-US" dirty="0" sz="1600" b="0">
                <ns1:solidFill>
                  <ns1:srgbClr val="989596"/>
                </ns1:solidFill>
                <ns1:latin typeface="Arial"/>
              </ns1:rPr>
              <ns1:t>: Synergizing Reasoning and Acting in Language Models</ns1:t>
            </ns1:r>
            <ns1:endParaRPr lang="en-CN" dirty="0" sz="1600" b="0">
              <ns1:solidFill>
                <ns1:srgbClr val="989596"/>
              </ns1:solidFill>
              <ns1:latin typeface="Arial"/>
            </ns1:endParaRPr>
          </ns1:p>
        </ns0:txBody>
      </ns0:sp>
    </ns0:spTree>
    <ns0:extLst>
      <ns0:ext uri="{BB962C8B-B14F-4D97-AF65-F5344CB8AC3E}">
        <ns3:creationId val="1344174709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">
          <ns1:extLst>
            <ns1:ext uri="{FF2B5EF4-FFF2-40B4-BE49-F238E27FC236}">
              <ns2:creationId id="{D6750B49-4D7F-52FD-1A0F-4CB538B83FC9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B5571A92-D33E-B703-5204-842C38DF45C2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 err="1"/>
              <ns1:t>ReAct</ns1:t>
            </ns1:r>
            <ns1:endParaRPr lang="en-CN" dirty="0"/>
          </ns1:p>
        </ns0:txBody>
      </ns0:sp>
      <ns0:pic>
        <ns0:nvPicPr>
          <ns0:cNvPr id="8" name="Content Placeholder 7" descr="A screenshot of a computer program  AI-generated content may be incorrect.">
            <ns1:extLst>
              <ns1:ext uri="{FF2B5EF4-FFF2-40B4-BE49-F238E27FC236}">
                <ns2:creationId id="{ED9C926A-BE8B-CC95-80B3-3CFDF17E9EC5}"/>
              </ns1:ext>
            </ns1:extLst>
          </ns0:cNvPr>
          <ns0:cNvPicPr>
            <ns1:picLocks noGrp="1" noChangeAspect="1"/>
          </ns0:cNvPicPr>
          <ns0:nvPr>
            <ns0:ph idx="1"/>
          </ns0:nvPr>
        </ns0:nvPicPr>
        <ns0:blipFill>
          <ns1:blip ns3:embed="rId2"/>
          <ns1:stretch>
            <ns1:fillRect/>
          </ns1:stretch>
        </ns0:blipFill>
        <ns0:spPr>
          <ns1:xfrm>
            <ns1:off x="3927390" y="98854"/>
            <ns1:ext cx="6872416" cy="5923994"/>
          </ns1:xfrm>
        </ns0:spPr>
      </ns0:pic>
      <ns0:sp>
        <ns0:nvSpPr>
          <ns0:cNvPr id="9" name="TextBox 8">
            <ns1:extLst>
              <ns1:ext uri="{FF2B5EF4-FFF2-40B4-BE49-F238E27FC236}">
                <ns2:creationId id="{FC2B7173-6942-0184-E289-DC61773408C5}"/>
              </ns1:ext>
            </ns1:extLst>
          </ns0:cNvPr>
          <ns0:cNvSpPr txBox="1"/>
          <ns0:nvPr/>
        </ns0:nvSpPr>
        <ns0:spPr>
          <ns1:xfrm>
            <ns1:off x="609600" y="6126480"/>
            <ns1:ext cx="10972800" cy="4572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lang="en-US" altLang="zh-CN" dirty="0" err="1" sz="1600" b="0">
                <ns1:solidFill>
                  <ns1:srgbClr val="989596"/>
                </ns1:solidFill>
                <ns1:latin typeface="Arial"/>
              </ns1:rPr>
              <ns1:t>ReAct</ns1:t>
            </ns1:r>
            <ns1:r>
              <ns1:rPr lang="en-US" altLang="zh-CN" dirty="0" sz="1600" b="0">
                <ns1:solidFill>
                  <ns1:srgbClr val="989596"/>
                </ns1:solidFill>
                <ns1:latin typeface="Arial"/>
              </ns1:rPr>
              <ns1:t>: Synergizing Reasoning and Acting in Language Models</ns1:t>
            </ns1:r>
            <ns1:endParaRPr lang="en-CN" altLang="zh-CN" dirty="0" sz="1600" b="0">
              <ns1:solidFill>
                <ns1:srgbClr val="989596"/>
              </ns1:solidFill>
              <ns1:latin typeface="Arial"/>
            </ns1:endParaRPr>
          </ns1:p>
        </ns0:txBody>
      </ns0:sp>
    </ns0:spTree>
    <ns0:extLst>
      <ns0:ext uri="{BB962C8B-B14F-4D97-AF65-F5344CB8AC3E}">
        <ns4:creationId val="967077222"/>
      </ns0:ext>
    </ns0:extLst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2409CECD-5FC8-C60B-55A7-C2684BE22961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/>
              <ns1:t>MAST</ns1:t>
            </ns1:r>
            <ns1:endParaRPr lang="en-CN" dirty="0"/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AE93520A-C15D-724D-1EB4-12C02E703571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r>
              <ns1:rPr lang="en-US" dirty="0"/>
              <ns1:t>Presents MAST, a taxonomy for MAS failures. Develops an LLM-as-a-Judge pipeline, and </ns1:t>
            </ns1:r>
            <ns1:r>
              <ns1:rPr lang="en-US" dirty="0" err="1"/>
              <ns1:t>opensources</ns1:t>
            </ns1:r>
            <ns1:r>
              <ns1:rPr lang="en-US" dirty="0"/>
              <ns1:t> data to guide MAS development.</ns1:t>
            </ns1:r>
            <ns1:endParaRPr lang="en-CN" dirty="0"/>
          </ns1:p>
        </ns0:txBody>
      </ns0:sp>
      <ns0:sp>
        <ns0:nvSpPr>
          <ns0:cNvPr id="5" name="TextBox 4">
            <ns1:extLst>
              <ns1:ext uri="{FF2B5EF4-FFF2-40B4-BE49-F238E27FC236}">
                <ns2:creationId id="{73AA79F2-A0EA-6DCE-2F51-977A39FD349C}"/>
              </ns1:ext>
            </ns1:extLst>
          </ns0:cNvPr>
          <ns0:cNvSpPr txBox="1"/>
          <ns0:nvPr/>
        </ns0:nvSpPr>
        <ns0:spPr>
          <ns1:xfrm>
            <ns1:off x="609600" y="6126480"/>
            <ns1:ext cx="10972800" cy="4572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lang="en-US" dirty="0" sz="1600" b="0">
                <ns1:solidFill>
                  <ns1:srgbClr val="989596"/>
                </ns1:solidFill>
                <ns1:latin typeface="Arial"/>
              </ns1:rPr>
              <ns1:t>Why Do Multi-Agent LLM Systems Fail?</ns1:t>
            </ns1:r>
            <ns1:endParaRPr lang="en-CN" dirty="0" sz="1600" b="0">
              <ns1:solidFill>
                <ns1:srgbClr val="989596"/>
              </ns1:solidFill>
              <ns1:latin typeface="Arial"/>
            </ns1:endParaRPr>
          </ns1:p>
        </ns0:txBody>
      </ns0:sp>
    </ns0:spTree>
    <ns0:extLst>
      <ns0:ext uri="{BB962C8B-B14F-4D97-AF65-F5344CB8AC3E}">
        <ns3:creationId val="2963848404"/>
      </ns0:ext>
    </ns0:extLst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F44A205F-AD10-9A84-A67A-A406298CC1E6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US" dirty="0" err="1"/>
              <ns1:t>MultiAgentBench</ns1:t>
            </ns1:r>
            <ns1:endParaRPr lang="en-CN" dirty="0"/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6998EF72-91A5-D6A3-1D04-A4AF6A0076B3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r>
              <ns1:rPr lang="en-US" dirty="0"/>
              <ns1:t>Introduces </ns1:t>
            </ns1:r>
            <ns1:r>
              <ns1:rPr lang="en-US" dirty="0" err="1"/>
              <ns1:t>MultiAgentBench</ns1:t>
            </ns1:r>
            <ns1:r>
              <ns1:rPr lang="en-US" dirty="0"/>
              <ns1:t> to evaluate LLM - based multi - agent systems. Assesses collaboration and competition, evaluates protocols and strategies, code &amp; data open - sourced.</ns1:t>
            </ns1:r>
            <ns1:endParaRPr lang="en-CN" dirty="0"/>
          </ns1:p>
        </ns0:txBody>
      </ns0:sp>
      <ns0:sp>
        <ns0:nvSpPr>
          <ns0:cNvPr id="5" name="TextBox 4">
            <ns1:extLst>
              <ns1:ext uri="{FF2B5EF4-FFF2-40B4-BE49-F238E27FC236}">
                <ns2:creationId id="{A8B19118-5E79-85DE-B9DB-ED733E68C632}"/>
              </ns1:ext>
            </ns1:extLst>
          </ns0:cNvPr>
          <ns0:cNvSpPr txBox="1"/>
          <ns0:nvPr/>
        </ns0:nvSpPr>
        <ns0:spPr>
          <ns1:xfrm>
            <ns1:off x="609600" y="6126480"/>
            <ns1:ext cx="10972800" cy="45720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 algn="ctr"/>
            <ns1:r>
              <ns1:rPr lang="en-US" dirty="0" err="1" sz="1600" b="0">
                <ns1:solidFill>
                  <ns1:srgbClr val="989596"/>
                </ns1:solidFill>
                <ns1:latin typeface="Arial"/>
              </ns1:rPr>
              <ns1:t>MultiAgentBench</ns1:t>
            </ns1:r>
            <ns1:r>
              <ns1:rPr lang="en-US" dirty="0" sz="1600" b="0">
                <ns1:solidFill>
                  <ns1:srgbClr val="989596"/>
                </ns1:solidFill>
                <ns1:latin typeface="Arial"/>
              </ns1:rPr>
              <ns1:t> : Evaluating the Collaboration and Competition of LLM agents</ns1:t>
            </ns1:r>
            <ns1:endParaRPr lang="en-CN" dirty="0" sz="1600" b="0">
              <ns1:solidFill>
                <ns1:srgbClr val="989596"/>
              </ns1:solidFill>
              <ns1:latin typeface="Arial"/>
            </ns1:endParaRPr>
          </ns1:p>
        </ns0:txBody>
      </ns0:sp>
    </ns0:spTree>
    <ns0:extLst>
      <ns0:ext uri="{BB962C8B-B14F-4D97-AF65-F5344CB8AC3E}">
        <ns3:creationId val="1577728344"/>
      </ns0:ext>
    </ns0:extLst>
  </ns0:cSld>
  <ns0:clrMapOvr>
    <ns1:masterClrMapping/>
  </ns0:clrMapOvr>
</ns0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</a:p>
          <a:p>
            <a:pPr lvl="0">
              <a:buAutoNum type="arabicPeriod"/>
            </a:pPr>
            <a:r>
              <a:rPr lang="en-US" dirty="0"/>
              <a:t>ReAct: Synergizing Reasoning and Acting in Language Models</a:t>
            </a:r>
          </a:p>
          <a:p>
            <a:pPr lvl="0">
              <a:buAutoNum type="arabicPeriod"/>
            </a:pPr>
            <a:r>
              <a:rPr lang="en-US" dirty="0"/>
              <a:t>Why Do Multi-Agent LLM Systems Fail?</a:t>
            </a:r>
          </a:p>
          <a:p>
            <a:pPr lvl="0">
              <a:buAutoNum type="arabicPeriod"/>
            </a:pPr>
            <a:r>
              <a:rPr lang="en-US" dirty="0"/>
              <a:t>MultiAgentBench : Evaluating the Collaboration and Competition of LLM agents</a:t>
            </a:r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74</ns0:TotalTime>
  <ns0:Words>198</ns0:Words>
  <ns0:Application>Microsoft Office PowerPoint</ns0:Application>
  <ns0:PresentationFormat>宽屏</ns0:PresentationFormat>
  <ns0:Paragraphs>20</ns0:Paragraphs>
  <ns0:Slides>7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4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7</ns1:i4>
      </ns1:variant>
    </ns1:vector>
  </ns0:HeadingPairs>
  <ns0:TitlesOfParts>
    <ns1:vector size="12" baseType="lpstr">
      <ns1:lpstr>Aptos</ns1:lpstr>
      <ns1:lpstr>Aptos Display</ns1:lpstr>
      <ns1:lpstr>Lucida Grande</ns1:lpstr>
      <ns1:lpstr>Arial</ns1:lpstr>
      <ns1:lpstr>Office Theme</ns1:lpstr>
      <ns1:lpstr>Awesome-Agent-Papers</ns1:lpstr>
      <ns1:lpstr>Foam - Agent</ns1:lpstr>
      <ns1:lpstr>ReAct</ns1:lpstr>
      <ns1:lpstr>ReAct</ns1:lpstr>
      <ns1:lpstr>MAST</ns1:lpstr>
      <ns1:lpstr>MultiAgentBench</ns1:lpstr>
      <ns1:lpstr>Reference</ns1:lpstr>
    </ns1:vector>
  </ns0:TitlesOfParts>
  <ns0:Company/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