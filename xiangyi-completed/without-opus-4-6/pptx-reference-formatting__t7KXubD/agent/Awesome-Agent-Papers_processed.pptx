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4AA4C9-7B18-4C0B-88EA-FCE93318F9D1}"/>
              </a:ext>
            </a:extLst>
          </p:cNvPr>
          <p:cNvSpPr txBox="1"/>
          <p:nvPr/>
        </p:nvSpPr>
        <p:spPr>
          <a:xfrm>
            <a:off x="3278200" y="6188668"/>
            <a:ext cx="56356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ADE48DA-BA5C-5EDB-7D06-0C4908B1587A}"/>
              </a:ext>
            </a:extLst>
          </p:cNvPr>
          <p:cNvSpPr txBox="1"/>
          <p:nvPr/>
        </p:nvSpPr>
        <p:spPr>
          <a:xfrm>
            <a:off x="3151200" y="6188668"/>
            <a:ext cx="58896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C2B7173-6942-0184-E289-DC61773408C5}"/>
              </a:ext>
            </a:extLst>
          </p:cNvPr>
          <p:cNvSpPr txBox="1"/>
          <p:nvPr/>
        </p:nvSpPr>
        <p:spPr>
          <a:xfrm>
            <a:off x="3151200" y="6188668"/>
            <a:ext cx="58896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  <a:endParaRPr lang="en-CN" altLang="zh-CN" dirty="0"/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3AA79F2-A0EA-6DCE-2F51-977A39FD349C}"/>
              </a:ext>
            </a:extLst>
          </p:cNvPr>
          <p:cNvSpPr txBox="1"/>
          <p:nvPr/>
        </p:nvSpPr>
        <p:spPr>
          <a:xfrm>
            <a:off x="4205300" y="6188668"/>
            <a:ext cx="37814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8B19118-5E79-85DE-B9DB-ED733E68C632}"/>
              </a:ext>
            </a:extLst>
          </p:cNvPr>
          <p:cNvSpPr txBox="1"/>
          <p:nvPr/>
        </p:nvSpPr>
        <p:spPr>
          <a:xfrm>
            <a:off x="2433650" y="6188668"/>
            <a:ext cx="7324700" cy="369332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600">
                <a:latin typeface="Arial"/>
              </a:rPr>
              <a:t>1. Foam-Agent: Towards Automated Intelligent CFD Workflows</a:t>
            </a:r>
          </a:p>
          <a:p>
            <a:pPr/>
            <a:r>
              <a:rPr sz="1600">
                <a:latin typeface="Arial"/>
              </a:rPr>
              <a:t>2. ReAct: Synergizing Reasoning and Acting in Language Models</a:t>
            </a:r>
          </a:p>
          <a:p>
            <a:pPr/>
            <a:r>
              <a:rPr sz="1600">
                <a:latin typeface="Arial"/>
              </a:rPr>
              <a:t>3. Why Do Multi-Agent LLM Systems Fail?</a:t>
            </a:r>
          </a:p>
          <a:p>
            <a:pPr/>
            <a:r>
              <a:rPr sz="1600">
                <a:latin typeface="Arial"/>
              </a:rPr>
              <a:t>4. 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