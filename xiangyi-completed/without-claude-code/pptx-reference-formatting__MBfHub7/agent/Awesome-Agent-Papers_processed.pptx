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457200" y="59436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solidFill>
                  <a:srgbClr val="989596"/>
                </a:solidFill>
                <a:effectLst/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457200" y="59436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457200" y="59436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solidFill>
                  <a:srgbClr val="989596"/>
                </a:solidFill>
                <a:latin typeface="Arial"/>
              </a:rPr>
              <a:t>ReAct</a:t>
            </a:r>
            <a:r>
              <a:rPr lang="en-US" altLang="zh-CN" dirty="0" sz="1600" b="0">
                <a:solidFill>
                  <a:srgbClr val="989596"/>
                </a:solidFill>
                <a:latin typeface="Arial"/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57200" y="59436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457200" y="5943600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solidFill>
                  <a:srgbClr val="989596"/>
                </a:solidFill>
                <a:latin typeface="Arial"/>
              </a:rPr>
              <a:t>MultiAgentBench</a:t>
            </a:r>
            <a:r>
              <a:rPr lang="en-US" dirty="0" sz="1600" b="0">
                <a:solidFill>
                  <a:srgbClr val="989596"/>
                </a:solidFill>
                <a:latin typeface="Arial"/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latin typeface="Arial"/>
              </a:defRPr>
            </a:pPr>
            <a: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latin typeface="Arial"/>
              </a:defRPr>
              <a:buFont typeface="Arial"/>
              <a:buChar char="1."/>
            </a:pPr>
            <a:r>
              <a:t>Foam-Agent: Towards Automated Intelligent CFD Workflows</a:t>
            </a:r>
          </a:p>
          <a:p>
            <a:pPr>
              <a:defRPr sz="1100">
                <a:latin typeface="Arial"/>
              </a:defRPr>
              <a:buFont typeface="Arial"/>
              <a:buChar char="2."/>
            </a:pPr>
            <a:r>
              <a:t>ReAct: Synergizing Reasoning and Acting in Language Models</a:t>
            </a:r>
          </a:p>
          <a:p>
            <a:pPr>
              <a:defRPr sz="1100">
                <a:latin typeface="Arial"/>
              </a:defRPr>
              <a:buFont typeface="Arial"/>
              <a:buChar char="3."/>
            </a:pPr>
            <a:r>
              <a:t>Why Do Multi-Agent LLM Systems Fail?</a:t>
            </a:r>
          </a:p>
          <a:p>
            <a:pPr>
              <a:defRPr sz="1100">
                <a:latin typeface="Arial"/>
              </a:defRPr>
              <a:buFont typeface="Arial"/>
              <a:buChar char="4."/>
            </a:pPr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