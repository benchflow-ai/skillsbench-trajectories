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1="http://schemas.openxmlformats.org/officeDocument/2006/relationships" xmlns:ns3="http://schemas.microsoft.com/office/powerpoint/2012/main" xmlns:p="http://schemas.openxmlformats.org/presentationml/2006/main" saveSubsetFonts="1" autoCompressPictures="0">
  <p:sldMasterIdLst>
    <p:sldMasterId id="2147483648" ns1:id="rId1"/>
  </p:sldMasterIdLst>
  <p:sldIdLst>
    <p:sldId id="256" ns1:id="rId2"/>
    <p:sldId id="257" ns1:id="rId3"/>
    <p:sldId id="261" ns1:id="rId4"/>
    <p:sldId id="262" ns1:id="rId5"/>
    <p:sldId id="258" ns1:id="rId6"/>
    <p:sldId id="259" ns1:id="rId7"/>
    <p:sldId id="263" ns1:id="rId8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ns2:creationId id="{7A4AA4C9-7B18-4C0B-88EA-FCE93318F9D1}"/>
              </a:ext>
            </a:extLst>
          </p:cNvPr>
          <p:cNvSpPr txBox="1"/>
          <p:nvPr/>
        </p:nvSpPr>
        <p:spPr>
          <a:xfrm>
            <a:off x="685800" y="43205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i="0" dirty="0" typeface="Arial" sz="1600">
                <a:solidFill>
                  <a:srgbClr val="989596"/>
                </a:solidFill>
                <a:effectLst/>
                <a:latin typeface="Lucida Grande"/>
              </a:rPr>
              <a:t>Foam-Agent: Towards Automated Intelligent CFD Workflows</a:t>
            </a:r>
          </a:p>
        </p:txBody>
      </p:sp>
    </p:spTree>
    <p:extLst>
      <p:ext uri="{BB962C8B-B14F-4D97-AF65-F5344CB8AC3E}">
        <ns3:creationId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ns2:creationId id="{9ADE48DA-BA5C-5EDB-7D06-0C4908B1587A}"/>
              </a:ext>
            </a:extLst>
          </p:cNvPr>
          <p:cNvSpPr txBox="1"/>
          <p:nvPr/>
        </p:nvSpPr>
        <p:spPr>
          <a:xfrm>
            <a:off x="2113221" y="5009063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ReAct</a:t>
            </a:r>
            <a:r>
              <a:rPr lang="en-US" dirty="0"/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ns3:creationId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  AI-generated content may be incorrect.">
            <a:extLst>
              <a:ext uri="{FF2B5EF4-FFF2-40B4-BE49-F238E27FC236}">
                <ns2:creationId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ns3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ns2:creationId id="{FC2B7173-6942-0184-E289-DC61773408C5}"/>
              </a:ext>
            </a:extLst>
          </p:cNvPr>
          <p:cNvSpPr txBox="1"/>
          <p:nvPr/>
        </p:nvSpPr>
        <p:spPr>
          <a:xfrm>
            <a:off x="371877" y="3161009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ReAct</a:t>
            </a:r>
            <a:r>
              <a:rPr lang="en-US" altLang="zh-CN" dirty="0"/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ns4:creationId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ns2:creationId id="{73AA79F2-A0EA-6DCE-2F51-977A39FD349C}"/>
              </a:ext>
            </a:extLst>
          </p:cNvPr>
          <p:cNvSpPr txBox="1"/>
          <p:nvPr/>
        </p:nvSpPr>
        <p:spPr>
          <a:xfrm>
            <a:off x="685800" y="43205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typeface="Arial" sz="1600">
                <a:solidFill>
                  <a:srgbClr val="989596"/>
                </a:solidFill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ns3:creationId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ns2:creationId id="{A8B19118-5E79-85DE-B9DB-ED733E68C632}"/>
              </a:ext>
            </a:extLst>
          </p:cNvPr>
          <p:cNvSpPr txBox="1"/>
          <p:nvPr/>
        </p:nvSpPr>
        <p:spPr>
          <a:xfrm>
            <a:off x="3335965" y="4001294"/>
            <a:ext cx="6097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MultiAgentBench</a:t>
            </a:r>
            <a:r>
              <a:rPr lang="en-US" dirty="0"/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ns3:creationId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1292b18b-5cd8-45af-8c12-081b4060d37f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d8647a3a-aa1c-4c0b-844d-33328269bb5f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AutoNum type="arabicPeriod"/>
            </a:pPr>
            <a:r>
              <a:rPr lang="en-US" dirty="0"/>
              <a:t>Foam-Agent: Towards Automated Intelligent CFD Workflows</a:t>
            </a:r>
          </a:p>
          <a:p>
            <a:pPr lvl="0">
              <a:buAutoNum type="arabicPeriod"/>
            </a:pPr>
            <a:r>
              <a:rPr lang="en-US" dirty="0"/>
              <a:t>ReAct : Synergizing Reasoning and Acting in Language Models</a:t>
            </a:r>
          </a:p>
          <a:p>
            <a:pPr lvl="0">
              <a:buAutoNum type="arabicPeriod"/>
            </a:pPr>
            <a:r>
              <a:rPr lang="en-US" dirty="0"/>
              <a:t>Why Do Multi-Agent LLM Systems Fail?</a:t>
            </a:r>
          </a:p>
          <a:p>
            <a:pPr lvl="0">
              <a:buAutoNum type="arabicPeriod"/>
            </a:pPr>
            <a:r>
              <a:rPr lang="en-US" dirty="0"/>
              <a:t>MultiAgentBench  : Evaluating the Collaboration and Competition of LLM agents</a:t>
            </a:r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