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7.xml" ContentType="application/vnd.openxmlformats-officedocument.presentationml.slide+xml"/>
</Types>
</file>

<file path=_rels/.rels><?xml version="1.0" encoding="UTF-8"?>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Relationship Id="rId12" Type="http://schemas.openxmlformats.org/officeDocument/2006/relationships/slide" Target="slides/slide7.xml"/></Relationship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?>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b="0" i="0" dirty="0" sz="1600">
                <a:effectLst/>
                <a:latin typeface="Arial"/>
                <a:solidFill>
                  <a:srgbClr val="989596"/>
                </a:solidFill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ReAct</a:t>
            </a:r>
            <a:r>
              <a:rPr lang="en-US" dirty="0" sz="1600" b="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  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dirty="0" err="1" sz="1600" b="0">
                <a:latin typeface="Arial"/>
                <a:solidFill>
                  <a:srgbClr val="989596"/>
                </a:solidFill>
              </a:rPr>
              <a:t>ReAct</a:t>
            </a:r>
            <a:r>
              <a:rPr lang="en-US" altLang="zh-CN" dirty="0" sz="1600" b="0">
                <a:latin typeface="Arial"/>
                <a:solidFill>
                  <a:srgbClr val="989596"/>
                </a:solidFill>
              </a:rPr>
              <a:t>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sz="1600" b="0">
                <a:latin typeface="Arial"/>
                <a:solidFill>
                  <a:srgbClr val="989596"/>
                </a:solidFill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1096000" y="6200000"/>
            <a:ext cx="10000000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 err="1" sz="1600" b="0">
                <a:latin typeface="Arial"/>
                <a:solidFill>
                  <a:srgbClr val="989596"/>
                </a:solidFill>
              </a:rPr>
              <a:t>MultiAgentBench</a:t>
            </a:r>
            <a:r>
              <a:rPr lang="en-US" dirty="0" sz="1600" b="0">
                <a:latin typeface="Arial"/>
                <a:solidFill>
                  <a:srgbClr val="989596"/>
                </a:solidFill>
              </a:rPr>
              <a:t>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/>
          <p:nvPr>
            <p:ph type="title"/>
          </p:nvPr>
        </p:nvSpPr>
        <p:spPr/>
        <p:txBody>
          <a:bodyPr/>
          <a:lstStyle/>
          <a:p>
            <a:r>
              <a:rPr lang="en-US"/>
              <a:t>Reference</a:t>
            </a:r>
          </a:p>
        </p:txBody>
      </p:sp>
      <p:sp>
        <p:nvSpPr>
          <p:cNvPr id="3" name="Content Placeholder 2"/>
          <p:cNvSpPr/>
          <p:nvPr>
            <p:ph idx="1"/>
          </p:nvPr>
        </p:nvSpPr>
        <p:spPr/>
        <p:txBody>
          <a:bodyPr/>
          <a:lstStyle/>
          <a:p>
            <a:pPr lvl="0">
              <a:buAutoNum type="arabicPeriod"/>
            </a:pPr>
            <a:r>
              <a:rPr lang="en-US"/>
              <a:t>Foam-Agent: Towards Automated Intelligent CFD Workflows</a:t>
            </a:r>
          </a:p>
          <a:p>
            <a:pPr lvl="0">
              <a:buAutoNum type="arabicPeriod"/>
            </a:pPr>
            <a:r>
              <a:rPr lang="en-US"/>
              <a:t>ReAct: Synergizing Reasoning and Acting in Language Models</a:t>
            </a:r>
          </a:p>
          <a:p>
            <a:pPr lvl="0">
              <a:buAutoNum type="arabicPeriod"/>
            </a:pPr>
            <a:r>
              <a:rPr lang="en-US"/>
              <a:t>Why Do Multi-Agent LLM Systems Fail?</a:t>
            </a:r>
          </a:p>
          <a:p>
            <a:pPr lvl="0">
              <a:buAutoNum type="arabicPeriod"/>
            </a:pPr>
            <a:r>
              <a:rPr lang="en-US"/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