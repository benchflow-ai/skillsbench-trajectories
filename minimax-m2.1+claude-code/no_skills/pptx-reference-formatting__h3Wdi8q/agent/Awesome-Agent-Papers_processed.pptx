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400" y="5669280"/>
            <a:ext cx="7315200" cy="731520"/>
          </a:xfrm>
        </p:spPr>
        <p:txBody>
          <a:bodyPr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5669280"/>
            <a:ext cx="7315200" cy="731520"/>
          </a:xfrm>
        </p:spPr>
        <p:txBody>
          <a:bodyPr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648606" y="4254090"/>
            <a:ext cx="7903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000000"/>
                </a:solidFill>
                <a:effectLst/>
                <a:latin typeface="Lucida Grande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5669280"/>
            <a:ext cx="7315200" cy="731520"/>
          </a:xfrm>
        </p:spPr>
        <p:txBody>
          <a:bodyPr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113221" y="500906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ReAct</a:t>
            </a:r>
            <a:r>
              <a:rPr lang="en-US" dirty="0"/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5669280"/>
            <a:ext cx="7315200" cy="731520"/>
          </a:xfrm>
        </p:spPr>
        <p:txBody>
          <a:bodyPr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71877" y="31610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ReAct</a:t>
            </a:r>
            <a:r>
              <a:rPr lang="en-US" altLang="zh-CN" dirty="0"/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5669280"/>
            <a:ext cx="7315200" cy="731520"/>
          </a:xfrm>
        </p:spPr>
        <p:txBody>
          <a:bodyPr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69342" y="441391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5669280"/>
            <a:ext cx="7315200" cy="731520"/>
          </a:xfrm>
        </p:spPr>
        <p:txBody>
          <a:bodyPr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3335965" y="400129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MultiAgentBench</a:t>
            </a:r>
            <a:r>
              <a:rPr lang="en-US" dirty="0"/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latin typeface="Arial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sz="1600">
                <a:latin typeface="Arial"/>
              </a:rPr>
              <a:t>Awesome-Agent-Papers</a:t>
            </a:r>
          </a:p>
          <a:p>
            <a:pPr>
              <a:spcBef>
                <a:spcPts val="1200"/>
              </a:spcBef>
            </a:pPr>
            <a:r>
              <a:rPr sz="1600">
                <a:latin typeface="Arial"/>
              </a:rPr>
              <a:t>Foam - Agent</a:t>
            </a:r>
          </a:p>
          <a:p>
            <a:pPr>
              <a:spcBef>
                <a:spcPts val="1200"/>
              </a:spcBef>
            </a:pPr>
            <a:r>
              <a:rPr sz="1600">
                <a:latin typeface="Arial"/>
              </a:rPr>
              <a:t>ReAct</a:t>
            </a:r>
          </a:p>
          <a:p>
            <a:pPr>
              <a:spcBef>
                <a:spcPts val="1200"/>
              </a:spcBef>
            </a:pPr>
            <a:r>
              <a:rPr sz="1600">
                <a:latin typeface="Arial"/>
              </a:rPr>
              <a:t>MAST</a:t>
            </a:r>
          </a:p>
          <a:p>
            <a:pPr>
              <a:spcBef>
                <a:spcPts val="1200"/>
              </a:spcBef>
            </a:pPr>
            <a:r>
              <a:rPr sz="1600">
                <a:latin typeface="Arial"/>
              </a:rPr>
              <a:t>MultiAgentBench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